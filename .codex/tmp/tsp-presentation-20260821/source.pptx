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51391" y="3182242"/>
            <a:ext cx="1289067" cy="71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609"/>
              </a:lnSpc>
            </a:pPr>
            <a:r>
              <a:rPr b="0" sz="5100" i="0" u="none">
                <a:solidFill>
                  <a:srgbClr val="1D2A4C"/>
                </a:solidFill>
                <a:latin typeface="Inter ExtraBold"/>
              </a:rPr>
              <a:t>TSP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1362" y="4132808"/>
            <a:ext cx="5629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64748B"/>
                </a:solidFill>
                <a:latin typeface="Inter"/>
              </a:rPr>
              <a:t>Maršrutų planavimo ir pristatymų valdymo sistema.</a:t>
            </a:r>
            <a:r>
              <a:t>
</a:t>
            </a:r>
            <a:r>
              <a:rPr b="0" sz="1800" i="0" u="none">
                <a:solidFill>
                  <a:srgbClr val="64748B"/>
                </a:solidFill>
                <a:latin typeface="Inter"/>
              </a:rPr>
              <a:t> Nuo popierinio kelionės lapo iki matuojamo proceso.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39242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3555950" cy="208299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247775"/>
            <a:ext cx="3555950" cy="208299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247775"/>
            <a:ext cx="3555950" cy="208299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750" y="3333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1495425"/>
            <a:ext cx="428625" cy="428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2066925"/>
            <a:ext cx="2600325" cy="235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b="1" sz="1425" i="0" u="none">
                <a:solidFill>
                  <a:srgbClr val="1D2A4C"/>
                </a:solidFill>
                <a:latin typeface="Inter"/>
              </a:rPr>
              <a:t>Kelionės lapai pildomi ranka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397323"/>
            <a:ext cx="3060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Duomenys surenkami mėnesio gale, klaidos aiškėja per vėlai, o rankinis vedimas užima daug laiko.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5600" y="1495425"/>
            <a:ext cx="428625" cy="4286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5600" y="2066925"/>
            <a:ext cx="2790348" cy="235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b="1" sz="1425" i="0" u="none">
                <a:solidFill>
                  <a:srgbClr val="1D2A4C"/>
                </a:solidFill>
                <a:latin typeface="Inter"/>
              </a:rPr>
              <a:t>Pristatymo laikai nefiksuojami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5600" y="2397323"/>
            <a:ext cx="3060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Nėra kuo pagrįsti nei realaus vairuotojo darbo tempo, nei objektyviai atsakyti į klientų pretenzijas.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2050" y="1495425"/>
            <a:ext cx="428625" cy="428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12050" y="2066925"/>
            <a:ext cx="2670333" cy="235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b="1" sz="1425" i="0" u="none">
                <a:solidFill>
                  <a:srgbClr val="1D2A4C"/>
                </a:solidFill>
                <a:latin typeface="Inter"/>
              </a:rPr>
              <a:t>Maršrutų logika ir ekonomija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2050" y="2397323"/>
            <a:ext cx="3060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Maršrutų logika lieka žmogaus galvoje, o patys maršrutai ne visada organizuojami ekonomiškiausiu būdu.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687" y="1604962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5137" y="1604962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1588" y="1604962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D2A4C"/>
                </a:solidFill>
                <a:latin typeface="Inter"/>
              </a:rPr>
              <a:t>Atspirties taškas: Kaip yra šiandien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47775"/>
            <a:ext cx="5334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333375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678781"/>
            <a:ext cx="5334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b="0" sz="1575" i="0" u="none">
                <a:solidFill>
                  <a:srgbClr val="1D2A4C"/>
                </a:solidFill>
                <a:latin typeface="Inter SemiBold"/>
              </a:rPr>
              <a:t>Viena sistema, veikianti vairuotojo mobiliajame telefone ir dispečerio kompiuteryje.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469356"/>
            <a:ext cx="4905375" cy="547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Sumanus planavimas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Adresų importas ir greitas maršruto optimizavimas.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188493"/>
            <a:ext cx="4905375" cy="547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Apribojimų valdymas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Laiko langų ir transporto svorio kontrolė vienoje vietoje.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907631"/>
            <a:ext cx="4905375" cy="547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Realaus laiko stebėjimas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Pristatymų žymėjimas tiesiogiai mobiliajame telefone.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257300"/>
            <a:ext cx="5314950" cy="3790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93168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12306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31443"/>
            <a:ext cx="219075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D2A4C"/>
                </a:solidFill>
                <a:latin typeface="Inter"/>
              </a:rPr>
              <a:t>Sprendimas: Kas yra TSP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47775"/>
            <a:ext cx="5334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333375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688306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Rekomenduojamos vietos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Sistema nurodo rekomenduojamas prekių krovimo vietas automobilyje pagal maršruto eiliškumą.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664618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Jokių papildomų perkrovimų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Iškrutant prekes nereikia kilnoti ar perkrauti visos mašinos – viskas sudėliota logiškai.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640931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Svorio ir ašių kontrolė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Teisingas svorio pasiskirstymas užtikrina saugumą ir apsaugo prekes nuo pažeidimų.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257300"/>
            <a:ext cx="5314950" cy="3790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12118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88431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64743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D2A4C"/>
                </a:solidFill>
                <a:latin typeface="Inter"/>
              </a:rPr>
              <a:t>Nauda: Pasikrovimo pagalba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47775"/>
            <a:ext cx="5334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333375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688306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Realaus laiko kaina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Sistemoje realiu laiku matoma reiso kaina ir preliminarus uždarbis.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664618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Tikslūs finansiniai parametrai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Vienoje vietoje lengvai valdomi kuro, automobilio, darbo užmokesčio ir rezervo dydžiai.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640931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Sprendimai iš duomenų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Planavimas tampa paremtas konkrečiais skaičiais, o ne spėjimais ar nuojauta.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257300"/>
            <a:ext cx="5314950" cy="3790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12118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88431"/>
            <a:ext cx="1238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64743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D2A4C"/>
                </a:solidFill>
                <a:latin typeface="Inter"/>
              </a:rPr>
              <a:t>Nauda: Reiso skaidrumas ir finansai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47775"/>
            <a:ext cx="5334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333375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07356"/>
            <a:ext cx="5334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475569"/>
                </a:solidFill>
                <a:latin typeface="Inter Medium"/>
              </a:rPr>
              <a:t>Bet kuriuo momentu visiškai aišku, kur yra maršrutas ir ar vairuotojas spėja įvykdyti užduotis.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440781"/>
            <a:ext cx="4905375" cy="547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Kiek atlikta?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Aplankyti taškai, likęs svoris ir laikas kelyje.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159918"/>
            <a:ext cx="4905375" cy="547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Kur šiuo metu?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Kita stotelė, atstumas ir numatomas atvykimo laikas.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879056"/>
            <a:ext cx="4905375" cy="547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Ar spėja?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Sistema pati rodo, ar bus pataikyta į kliento laiko langą.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257300"/>
            <a:ext cx="5314950" cy="3790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64593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183731"/>
            <a:ext cx="1428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02868"/>
            <a:ext cx="17145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D2A4C"/>
                </a:solidFill>
                <a:latin typeface="Inter"/>
              </a:rPr>
              <a:t>Nauda: Aiškus pristatymo progresas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47775"/>
            <a:ext cx="5334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333375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809750"/>
            <a:ext cx="5334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475569"/>
                </a:solidFill>
                <a:latin typeface="Inter Medium"/>
              </a:rPr>
              <a:t>Kiekvienas įvykdytas maršrutas išsaugomas su pilna statistika.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543175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Pretenzijų valdymas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Kliento pretenzija patikrinama per minutę remiantis istoriniais duomenimis.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519487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Maršrutų pokyčiai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Matoma, kaip konkretus maršrutas keitėsi bėgant laikui ir sezonams.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257300"/>
            <a:ext cx="5314950" cy="3790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66987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43300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D2A4C"/>
                </a:solidFill>
                <a:latin typeface="Inter"/>
              </a:rPr>
              <a:t>Kelionių istorija ir kontrolė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47775"/>
            <a:ext cx="5334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333375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688306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Automatinis pildymas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Kelionės lapas nebepildomas ranka – jis susidaro pats iš to, kas jau įvyko.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664618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Kuro ir kilometrų apskaita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Nuvažiuoti kilometrai ir kuro sąnaudos pagal normą skaičiuojami automatiškai.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640931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Jokio rankinio darbo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Mėnesio gale vietoj kelių valandų suvedimo paruoštas tikslus dokumentas.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257300"/>
            <a:ext cx="5314950" cy="3790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12118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88431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64743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D2A4C"/>
                </a:solidFill>
                <a:latin typeface="Inter"/>
              </a:rPr>
              <a:t>Nauda: Kelionės lapų skaitmenizacija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34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333375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247775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Tech. priežiūra ir mokesčiai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Techninės priežiūros, aptarnavimo bei kelių mokesčių sekimai ir priminimai.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224087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Vairuotojo komentarai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Komentarai apie neskubius gedimus ar kitas problemas tiesiai iš mobiliojo telefono.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200400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Automatinė komunikacija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Automatinis informacijos išsiuntimas kiekvienam vairuotojui ir administracijai.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176712"/>
            <a:ext cx="4905375" cy="804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D2A4C"/>
                </a:solidFill>
                <a:latin typeface="Inter SemiBold"/>
              </a:rPr>
              <a:t>Kontaktai ir pagalba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Klientų kontaktų pateikimas bei administracijos kontaktai būtinosioms problemoms.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304925"/>
            <a:ext cx="5314950" cy="3790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7158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24790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224212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200525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D2A4C"/>
                </a:solidFill>
                <a:latin typeface="Inter"/>
              </a:rPr>
              <a:t>Būsimos funkcijos ir patobulimai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020" y="1390650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81200"/>
            <a:ext cx="2541240" cy="430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7940" y="1390650"/>
            <a:ext cx="40005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419" y="1981200"/>
            <a:ext cx="2541240" cy="430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3860" y="1390650"/>
            <a:ext cx="40005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3339" y="1981200"/>
            <a:ext cx="2541240" cy="430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9780" y="1390650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9259" y="1981200"/>
            <a:ext cx="2541240" cy="4305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34750" y="333375"/>
            <a:ext cx="381000" cy="381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71500" y="162877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988" y="2181225"/>
            <a:ext cx="23482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D2A4C"/>
                </a:solidFill>
                <a:latin typeface="Inter"/>
              </a:rPr>
              <a:t>Importas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457450"/>
            <a:ext cx="223644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Užsakymų adresai, svoriai ir laiko langai suvedami arba importuojami.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3908" y="2181225"/>
            <a:ext cx="23482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D2A4C"/>
                </a:solidFill>
                <a:latin typeface="Inter"/>
              </a:rPr>
              <a:t>Optimizavimas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9819" y="2457450"/>
            <a:ext cx="223644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Sistema sudėlioja eiliškumą pagal atstumą, laiką ir apribojimus.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9830" y="2190750"/>
            <a:ext cx="232825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902622"/>
                </a:solidFill>
                <a:latin typeface="Inter"/>
              </a:rPr>
              <a:t>Vykdymas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264" y="2466975"/>
            <a:ext cx="221739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Vairuotojas žymi pristatymus telefone, matydamas kitą stotelę.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5748" y="2181225"/>
            <a:ext cx="23482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D2A4C"/>
                </a:solidFill>
                <a:latin typeface="Inter"/>
              </a:rPr>
              <a:t>Apskaita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1659" y="2457450"/>
            <a:ext cx="223644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Kelionės lapas, istorija ir rodikliai susidaro automatiškai.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D2A4C"/>
                </a:solidFill>
                <a:latin typeface="Inter"/>
              </a:rPr>
              <a:t>Procesas: Kaip tai veikia praktiškai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3555950" cy="208299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247775"/>
            <a:ext cx="3555950" cy="208299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247775"/>
            <a:ext cx="3555950" cy="208299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750" y="3333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1495425"/>
            <a:ext cx="428625" cy="428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2066925"/>
            <a:ext cx="2280285" cy="235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b="1" sz="1425" i="0" u="none">
                <a:solidFill>
                  <a:srgbClr val="1D2A4C"/>
                </a:solidFill>
                <a:latin typeface="Inter"/>
              </a:rPr>
              <a:t>Mažesnė priklausomybė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397323"/>
            <a:ext cx="3060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Naujokas dirba savarankiškai nuo pirmos dienos – maršruto logika saugoma sistemoje, o ne galvoje.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5600" y="1495425"/>
            <a:ext cx="428625" cy="4286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5600" y="2066925"/>
            <a:ext cx="1690211" cy="235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b="1" sz="1425" i="0" u="none">
                <a:solidFill>
                  <a:srgbClr val="1D2A4C"/>
                </a:solidFill>
                <a:latin typeface="Inter"/>
              </a:rPr>
              <a:t>Apskaita be vargo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5600" y="2397323"/>
            <a:ext cx="3060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Kelionės lapai ir kuro sąnaudos generuojami automatiškai, pašalinant rankinį darbą mėnesio gale.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2050" y="1495425"/>
            <a:ext cx="428625" cy="428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12050" y="2066925"/>
            <a:ext cx="2070258" cy="235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b="1" sz="1425" i="0" u="none">
                <a:solidFill>
                  <a:srgbClr val="1D2A4C"/>
                </a:solidFill>
                <a:latin typeface="Inter"/>
              </a:rPr>
              <a:t>Matuojamas procesas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2050" y="2397323"/>
            <a:ext cx="3060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Aišku, kur yra maršrutas, ar spėjama laiku, o visi ginčai sprendimui remiasi objektyviais faktais.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112" y="1604962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0850" y="1604962"/>
            <a:ext cx="23812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1588" y="1604962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D2A4C"/>
                </a:solidFill>
                <a:latin typeface="Inter"/>
              </a:rPr>
              <a:t>Santrauka: Ką tai duoda įmonei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